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sldIdLst>
    <p:sldId id="256" r:id="rId3"/>
    <p:sldId id="257" r:id="rId4"/>
    <p:sldId id="264" r:id="rId5"/>
    <p:sldId id="258" r:id="rId6"/>
    <p:sldId id="259" r:id="rId7"/>
    <p:sldId id="260" r:id="rId8"/>
    <p:sldId id="261" r:id="rId9"/>
    <p:sldId id="265" r:id="rId10"/>
    <p:sldId id="263" r:id="rId11"/>
    <p:sldId id="266" r:id="rId12"/>
    <p:sldId id="262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Default Section" id="{A5C25B5B-468F-4DEB-A405-AD8B5717AE29}">
          <p14:sldIdLst>
            <p14:sldId id="256"/>
          </p14:sldIdLst>
        </p14:section>
        <p14:section name="Untitled Section" id="{0E61C5B3-0756-414E-920C-D35B5CD2588E}">
          <p14:sldIdLst>
            <p14:sldId id="257"/>
            <p14:sldId id="264"/>
            <p14:sldId id="258"/>
            <p14:sldId id="259"/>
            <p14:sldId id="260"/>
            <p14:sldId id="261"/>
            <p14:sldId id="265"/>
            <p14:sldId id="263"/>
            <p14:sldId id="266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192" userDrawn="1">
          <p15:clr>
            <a:srgbClr val="A4A3A4"/>
          </p15:clr>
        </p15:guide>
        <p15:guide id="3" orient="horz" pos="10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330" y="312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/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/>
          <p:cNvPicPr>
            <a:picLocks noChangeAspect="1"/>
          </p:cNvPicPr>
          <p:nvPr/>
        </p:nvPicPr>
        <p:blipFill rotWithShape="1">
          <a:blip r:embed="rId6">
            <a:alphaModFix amt="16000"/>
          </a:blip>
          <a:srcRect t="24724" r="1619" b="63695"/>
          <a:stretch>
            <a:fillRect/>
          </a:stretch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hyperlink" Target="https://www.freepik.com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hyperlink" Target="https://data.gov.in/" TargetMode="External"/><Relationship Id="rId3" Type="http://schemas.openxmlformats.org/officeDocument/2006/relationships/hyperlink" Target="https://data.un.org/" TargetMode="External"/><Relationship Id="rId2" Type="http://schemas.openxmlformats.org/officeDocument/2006/relationships/hyperlink" Target="https://data.worldbank.org/" TargetMode="Externa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/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4702196" y="2780066"/>
            <a:ext cx="6870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Carbon Emissions Prediction</a:t>
            </a:r>
            <a:endParaRPr 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id="7" name="Picture 6" descr="A close up of a logo&#10;&#10;Description automatically generated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</p:spPr>
        </p:pic>
        <p:pic>
          <p:nvPicPr>
            <p:cNvPr id="8" name="Picture 7" descr="A yellow and red shell logo&#10;&#10;Description automatically generate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6237535" y="3844114"/>
            <a:ext cx="5138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92D050"/>
                </a:solidFill>
              </a:rPr>
              <a:t>HARSHADIP VIJAY UMBARKAR</a:t>
            </a:r>
            <a:endParaRPr lang="en-IN" sz="2400" b="1" dirty="0">
              <a:solidFill>
                <a:srgbClr val="92D05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59800" y="4416588"/>
            <a:ext cx="6174658" cy="378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92D050"/>
                </a:solidFill>
              </a:rPr>
              <a:t>STU682be83638e4a1747707958</a:t>
            </a:r>
            <a:endParaRPr lang="en-US" altLang="en-US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911" y="972537"/>
            <a:ext cx="2652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Learning Objectives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  <a:endParaRPr lang="en-IN" sz="1200" b="1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1"/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/>
          <p:cNvPicPr>
            <a:picLocks noChangeAspect="1"/>
          </p:cNvPicPr>
          <p:nvPr/>
        </p:nvPicPr>
        <p:blipFill rotWithShape="1">
          <a:blip r:embed="rId2">
            <a:alphaModFix amt="85000"/>
          </a:blip>
          <a:srcRect l="13763" t="6135" r="13650"/>
          <a:stretch>
            <a:fillRect/>
          </a:stretch>
        </p:blipFill>
        <p:spPr>
          <a:xfrm>
            <a:off x="7345680" y="1442720"/>
            <a:ext cx="4500880" cy="463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  <a:endParaRPr lang="en-IN" sz="35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3082" y="1438499"/>
            <a:ext cx="730523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 </a:t>
            </a:r>
            <a:r>
              <a:rPr lang="en-IN" sz="1600" b="1" dirty="0"/>
              <a:t>Python Libraries:</a:t>
            </a:r>
            <a:endParaRPr lang="en-IN" sz="1600" b="1" dirty="0"/>
          </a:p>
          <a:p>
            <a:pPr lvl="4">
              <a:lnSpc>
                <a:spcPct val="150000"/>
              </a:lnSpc>
            </a:pPr>
            <a:r>
              <a:rPr lang="en-IN" sz="1600" b="1" dirty="0"/>
              <a:t>	• </a:t>
            </a:r>
            <a:r>
              <a:rPr lang="en-IN" sz="1400" b="1" dirty="0"/>
              <a:t>NumPy </a:t>
            </a:r>
            <a:r>
              <a:rPr lang="en-IN" sz="1400" dirty="0"/>
              <a:t>– numerical operations and array handling</a:t>
            </a:r>
            <a:endParaRPr lang="en-IN" sz="1400" dirty="0"/>
          </a:p>
          <a:p>
            <a:pPr lvl="4"/>
            <a:r>
              <a:rPr lang="en-IN" sz="1400" b="1" dirty="0"/>
              <a:t>	• Pandas </a:t>
            </a:r>
            <a:r>
              <a:rPr lang="en-IN" sz="1400" dirty="0"/>
              <a:t>– data manipulation and analysis</a:t>
            </a:r>
            <a:endParaRPr lang="en-IN" sz="1400" dirty="0"/>
          </a:p>
          <a:p>
            <a:pPr lvl="4"/>
            <a:r>
              <a:rPr lang="en-IN" sz="1400" b="1" dirty="0"/>
              <a:t>	• Matplotlib</a:t>
            </a:r>
            <a:r>
              <a:rPr lang="en-IN" sz="1400" dirty="0"/>
              <a:t> – data visualization (line charts, bar charts)</a:t>
            </a:r>
            <a:endParaRPr lang="en-IN" sz="1400" dirty="0"/>
          </a:p>
          <a:p>
            <a:pPr lvl="4"/>
            <a:r>
              <a:rPr lang="en-IN" sz="1400" b="1" dirty="0"/>
              <a:t>	• Seaborn</a:t>
            </a:r>
            <a:r>
              <a:rPr lang="en-IN" sz="1400" dirty="0"/>
              <a:t> – advanced statistical visualizations (heatmaps, </a:t>
            </a:r>
            <a:r>
              <a:rPr lang="en-IN" sz="1400" dirty="0" err="1"/>
              <a:t>pairplots</a:t>
            </a:r>
            <a:r>
              <a:rPr lang="en-IN" sz="1400" dirty="0"/>
              <a:t>)</a:t>
            </a:r>
            <a:endParaRPr lang="en-IN" sz="1400" dirty="0"/>
          </a:p>
          <a:p>
            <a:pPr lvl="4"/>
            <a:r>
              <a:rPr lang="en-IN" sz="1400" b="1" dirty="0"/>
              <a:t>	• Scikit-learn</a:t>
            </a:r>
            <a:r>
              <a:rPr lang="en-IN" sz="1400" dirty="0"/>
              <a:t> – machine learning (regression models, model evaluation)</a:t>
            </a:r>
            <a:endParaRPr lang="en-IN" sz="1400" dirty="0"/>
          </a:p>
          <a:p>
            <a:pPr lvl="4"/>
            <a:r>
              <a:rPr lang="en-IN" sz="1400" b="1" dirty="0"/>
              <a:t>	• </a:t>
            </a:r>
            <a:r>
              <a:rPr lang="en-IN" sz="1400" b="1" dirty="0" err="1"/>
              <a:t>Joblib</a:t>
            </a:r>
            <a:r>
              <a:rPr lang="en-IN" sz="1400" dirty="0"/>
              <a:t> – model serialization (optional)</a:t>
            </a:r>
            <a:endParaRPr lang="en-IN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211945" y="3248181"/>
            <a:ext cx="70442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/>
              <a:t>We used </a:t>
            </a:r>
            <a:r>
              <a:rPr lang="en-US" sz="1500" b="1" dirty="0"/>
              <a:t>Random Forest Regressor</a:t>
            </a:r>
            <a:r>
              <a:rPr lang="en-US" sz="1500" dirty="0"/>
              <a:t>, an ensemble machine learning algorithm that builds multiple decision trees and combines their outputs to improve prediction accuracy and reduce overfitting.</a:t>
            </a:r>
            <a:endParaRPr lang="en-IN" sz="1500" dirty="0"/>
          </a:p>
        </p:txBody>
      </p:sp>
      <p:sp>
        <p:nvSpPr>
          <p:cNvPr id="15" name="TextBox 14"/>
          <p:cNvSpPr txBox="1"/>
          <p:nvPr/>
        </p:nvSpPr>
        <p:spPr>
          <a:xfrm>
            <a:off x="191727" y="4038277"/>
            <a:ext cx="61058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600" b="1" dirty="0"/>
              <a:t>Steps Performed:</a:t>
            </a:r>
            <a:endParaRPr lang="en-IN" sz="16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615055" y="4391251"/>
            <a:ext cx="7181926" cy="1452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/>
              <a:t>Importing the Model: </a:t>
            </a:r>
            <a:r>
              <a:rPr lang="en-IN" sz="1400" dirty="0"/>
              <a:t>from </a:t>
            </a:r>
            <a:r>
              <a:rPr lang="en-IN" sz="1400" dirty="0" err="1"/>
              <a:t>sklearn.ensemble</a:t>
            </a:r>
            <a:r>
              <a:rPr lang="en-IN" sz="1400" dirty="0"/>
              <a:t> import </a:t>
            </a:r>
            <a:r>
              <a:rPr lang="en-IN" sz="1400" dirty="0" err="1"/>
              <a:t>RandomForestRegressor</a:t>
            </a:r>
            <a:endParaRPr lang="en-IN" sz="1400" dirty="0"/>
          </a:p>
          <a:p>
            <a:pPr marL="342900" indent="-342900">
              <a:buFont typeface="+mj-lt"/>
              <a:buAutoNum type="arabicPeriod"/>
            </a:pPr>
            <a:r>
              <a:rPr lang="en-IN" sz="1400" b="1" dirty="0"/>
              <a:t>Initializing the </a:t>
            </a:r>
            <a:r>
              <a:rPr lang="en-IN" sz="1400" b="1" dirty="0" err="1"/>
              <a:t>Model:</a:t>
            </a:r>
            <a:r>
              <a:rPr lang="en-IN" sz="1400" dirty="0" err="1"/>
              <a:t>model</a:t>
            </a:r>
            <a:r>
              <a:rPr lang="en-IN" sz="1400" dirty="0"/>
              <a:t> = </a:t>
            </a:r>
            <a:r>
              <a:rPr lang="en-IN" sz="1400" dirty="0" err="1"/>
              <a:t>RandomForestRegressor</a:t>
            </a:r>
            <a:r>
              <a:rPr lang="en-IN" sz="1400" dirty="0"/>
              <a:t>(</a:t>
            </a:r>
            <a:r>
              <a:rPr lang="en-IN" sz="1400" dirty="0" err="1"/>
              <a:t>n_estimators</a:t>
            </a:r>
            <a:r>
              <a:rPr lang="en-IN" sz="1400" dirty="0"/>
              <a:t>=100, 	</a:t>
            </a:r>
            <a:r>
              <a:rPr lang="en-IN" sz="1400" dirty="0" err="1"/>
              <a:t>random_state</a:t>
            </a:r>
            <a:r>
              <a:rPr lang="en-IN" sz="1400" dirty="0"/>
              <a:t>=42)</a:t>
            </a:r>
            <a:endParaRPr lang="en-IN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/>
              <a:t>Training the Model:</a:t>
            </a:r>
            <a:r>
              <a:rPr lang="fr-FR" sz="1400" dirty="0" err="1"/>
              <a:t>model.fit</a:t>
            </a:r>
            <a:r>
              <a:rPr lang="fr-FR" sz="1400" dirty="0"/>
              <a:t>(</a:t>
            </a:r>
            <a:r>
              <a:rPr lang="fr-FR" sz="1400" dirty="0" err="1"/>
              <a:t>X_train</a:t>
            </a:r>
            <a:r>
              <a:rPr lang="fr-FR" sz="1400" dirty="0"/>
              <a:t>, </a:t>
            </a:r>
            <a:r>
              <a:rPr lang="fr-FR" sz="1400" dirty="0" err="1"/>
              <a:t>y_train</a:t>
            </a:r>
            <a:r>
              <a:rPr lang="fr-FR" sz="1400" dirty="0"/>
              <a:t>)</a:t>
            </a:r>
            <a:endParaRPr lang="en-IN" sz="1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/>
              <a:t>Making Predictions:</a:t>
            </a:r>
            <a:r>
              <a:rPr lang="en-US" sz="1400" dirty="0" err="1"/>
              <a:t>y_pred</a:t>
            </a:r>
            <a:r>
              <a:rPr lang="en-US" sz="1400" dirty="0"/>
              <a:t> = </a:t>
            </a:r>
            <a:r>
              <a:rPr lang="en-US" sz="1400" dirty="0" err="1"/>
              <a:t>model.predict</a:t>
            </a:r>
            <a:r>
              <a:rPr lang="en-US" sz="1400" dirty="0"/>
              <a:t>(</a:t>
            </a:r>
            <a:r>
              <a:rPr lang="en-US" sz="1400" dirty="0" err="1"/>
              <a:t>X_test</a:t>
            </a:r>
            <a:r>
              <a:rPr lang="en-US" sz="1400" dirty="0"/>
              <a:t>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9264" y="916294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3163"/>
                </a:solidFill>
              </a:rPr>
              <a:t>Cross-Validation &amp; Hyperparameter </a:t>
            </a:r>
            <a:r>
              <a:rPr lang="en-US" sz="1800" b="1" dirty="0" err="1">
                <a:solidFill>
                  <a:srgbClr val="213163"/>
                </a:solidFill>
              </a:rPr>
              <a:t>Tunin</a:t>
            </a:r>
            <a:r>
              <a:rPr lang="en-US" sz="1800" b="1" dirty="0">
                <a:solidFill>
                  <a:srgbClr val="213163"/>
                </a:solidFill>
              </a:rPr>
              <a:t> :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9264" y="1285626"/>
            <a:ext cx="6100916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b="1" dirty="0"/>
              <a:t>Cross-Validation :</a:t>
            </a:r>
            <a:endParaRPr lang="en-US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995514" y="1592339"/>
            <a:ext cx="471263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5" indent="-285750">
              <a:buFont typeface="Wingdings" panose="05000000000000000000" pitchFamily="2" charset="2"/>
              <a:buChar char="§"/>
            </a:pPr>
            <a:r>
              <a:rPr lang="en-US" sz="1600" dirty="0"/>
              <a:t>Used </a:t>
            </a:r>
            <a:r>
              <a:rPr lang="en-US" sz="1600" b="1" dirty="0"/>
              <a:t>5-Fold Cross-Validation</a:t>
            </a:r>
            <a:r>
              <a:rPr lang="en-US" sz="1600" dirty="0"/>
              <a:t> for model evaluation</a:t>
            </a:r>
            <a:endParaRPr lang="en-US" sz="1600" dirty="0"/>
          </a:p>
          <a:p>
            <a:pPr marL="285750" lvl="3" indent="-285750">
              <a:buFont typeface="Wingdings" panose="05000000000000000000" pitchFamily="2" charset="2"/>
              <a:buChar char="§"/>
            </a:pPr>
            <a:r>
              <a:rPr lang="en-US" sz="1600" dirty="0"/>
              <a:t>Ensures better generalization on unseen data</a:t>
            </a:r>
            <a:endParaRPr lang="en-US" sz="1600" dirty="0"/>
          </a:p>
          <a:p>
            <a:pPr marL="285750" lvl="3" indent="-285750">
              <a:buFont typeface="Wingdings" panose="05000000000000000000" pitchFamily="2" charset="2"/>
              <a:buChar char="§"/>
            </a:pPr>
            <a:r>
              <a:rPr lang="en-US" sz="1600" dirty="0"/>
              <a:t>Helps reduce overfitting and variance</a:t>
            </a:r>
            <a:endParaRPr 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6062250" y="1347814"/>
            <a:ext cx="6100916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800" b="1" dirty="0"/>
              <a:t>Hyperparameter Tuning :</a:t>
            </a:r>
            <a:endParaRPr lang="en-IN" sz="1800" b="1" dirty="0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 rot="10800000" flipV="1">
            <a:off x="6668842" y="1671030"/>
            <a:ext cx="514706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lvl="2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GridSearchCV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find best parameters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1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Tuned: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83918" y="2512842"/>
            <a:ext cx="61009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Selected model with highest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R² score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71118" y="2157189"/>
            <a:ext cx="61009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2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n_estimators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[100, 200, 300]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lvl="2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max_depth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[None, 10, 20]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7886" y="2918583"/>
            <a:ext cx="6100916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800" b="1" dirty="0"/>
              <a:t>Predicted Emissions:</a:t>
            </a:r>
            <a:endParaRPr lang="en-IN" sz="1800" b="1" dirty="0"/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1050326" y="3303454"/>
            <a:ext cx="4812565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2010 → 29,500 MMT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2015 → 31,200 MMT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2020 → 33,000 MMT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2025 → 34,500 MMT (forecast)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2030 → 36,000 MMT (forecast)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6678" y="4769685"/>
            <a:ext cx="3217609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b="1" dirty="0"/>
              <a:t>Key Points:</a:t>
            </a:r>
            <a:endParaRPr lang="en-IN" b="1" dirty="0"/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768165" y="5223429"/>
            <a:ext cx="610091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Emissions show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upward trend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Driven by population growth &amp; energy consumption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Highlights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sustainable energy policies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2" name="Picture 8" descr="Mauna Loa carbon dioxide forecast for 2023 - Met Offic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9027" y="3100422"/>
            <a:ext cx="6866695" cy="3815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5834" y="1067664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3163"/>
                </a:solidFill>
              </a:rPr>
              <a:t>T</a:t>
            </a:r>
            <a:r>
              <a:rPr lang="en-IN" sz="2000" b="1" dirty="0" err="1">
                <a:solidFill>
                  <a:srgbClr val="213163"/>
                </a:solidFill>
              </a:rPr>
              <a:t>ools</a:t>
            </a:r>
            <a:r>
              <a:rPr lang="en-IN" sz="2000" b="1" dirty="0">
                <a:solidFill>
                  <a:srgbClr val="213163"/>
                </a:solidFill>
              </a:rPr>
              <a:t> and Technology used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7751" y="1453779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b="1" dirty="0"/>
              <a:t>Programming Language: </a:t>
            </a:r>
            <a:r>
              <a:rPr lang="en-US" sz="1800" dirty="0"/>
              <a:t>Python 3.12.8 </a:t>
            </a:r>
            <a:endParaRPr lang="en-IN" sz="1800" dirty="0"/>
          </a:p>
        </p:txBody>
      </p:sp>
      <p:sp>
        <p:nvSpPr>
          <p:cNvPr id="12" name="TextBox 11"/>
          <p:cNvSpPr txBox="1"/>
          <p:nvPr/>
        </p:nvSpPr>
        <p:spPr>
          <a:xfrm>
            <a:off x="399322" y="1824167"/>
            <a:ext cx="6099858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b="1" dirty="0"/>
              <a:t>Libraries &amp; Frameworks:</a:t>
            </a:r>
            <a:endParaRPr lang="en-IN" sz="1800" b="1" dirty="0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1250067" y="2172493"/>
            <a:ext cx="689851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numerical operations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data manipulation and analysis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basic data visualization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Seaborn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statistical plotting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machine learning models &amp; evaluation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Joblib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saving trained models (optional)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3" name="Picture 5" descr="3D Python Programming Language Logo 12697295 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906" y="766848"/>
            <a:ext cx="3618053" cy="3618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457200" y="3745569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800" b="1" dirty="0"/>
              <a:t>Development Environment: </a:t>
            </a:r>
            <a:r>
              <a:rPr lang="en-US" sz="1800" dirty="0"/>
              <a:t>G</a:t>
            </a:r>
            <a:r>
              <a:rPr lang="en-IN" sz="1800" dirty="0" err="1"/>
              <a:t>oogle</a:t>
            </a:r>
            <a:r>
              <a:rPr lang="en-IN" sz="1800" dirty="0"/>
              <a:t> </a:t>
            </a:r>
            <a:r>
              <a:rPr lang="en-IN" sz="1800" dirty="0" err="1"/>
              <a:t>Colaboratory</a:t>
            </a:r>
            <a:endParaRPr lang="en-IN" sz="1800" dirty="0"/>
          </a:p>
        </p:txBody>
      </p:sp>
      <p:sp>
        <p:nvSpPr>
          <p:cNvPr id="19" name="TextBox 18"/>
          <p:cNvSpPr txBox="1"/>
          <p:nvPr/>
        </p:nvSpPr>
        <p:spPr>
          <a:xfrm>
            <a:off x="479869" y="4125625"/>
            <a:ext cx="6099858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b="1" dirty="0"/>
              <a:t>Datasets Used:</a:t>
            </a:r>
            <a:endParaRPr lang="en-IN" b="1" dirty="0"/>
          </a:p>
        </p:txBody>
      </p:sp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2650586" y="4151460"/>
            <a:ext cx="387751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CO₂ Emission Data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Energy consumption statistics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Population growth trends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Economic indicators (e.g., GDP)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00125" y="4104376"/>
            <a:ext cx="6099858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b="1" dirty="0"/>
              <a:t>Techniques Applied:</a:t>
            </a:r>
            <a:endParaRPr lang="en-IN" b="1" dirty="0"/>
          </a:p>
        </p:txBody>
      </p:sp>
      <p:sp>
        <p:nvSpPr>
          <p:cNvPr id="23" name="Rectangle 7"/>
          <p:cNvSpPr>
            <a:spLocks noChangeArrowheads="1"/>
          </p:cNvSpPr>
          <p:nvPr/>
        </p:nvSpPr>
        <p:spPr bwMode="auto">
          <a:xfrm>
            <a:off x="7766615" y="4466088"/>
            <a:ext cx="427009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Exploratory Data Analysis (EDA)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Regression Modeling (Random Forest)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Cross-Validation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Hyperparameter Tuning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8218" y="5125682"/>
            <a:ext cx="6099858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b="1" dirty="0"/>
              <a:t>Sources:</a:t>
            </a:r>
            <a:endParaRPr lang="en-IN" b="1" dirty="0"/>
          </a:p>
        </p:txBody>
      </p:sp>
      <p:sp>
        <p:nvSpPr>
          <p:cNvPr id="26" name="Rectangle 8"/>
          <p:cNvSpPr>
            <a:spLocks noChangeArrowheads="1"/>
          </p:cNvSpPr>
          <p:nvPr/>
        </p:nvSpPr>
        <p:spPr bwMode="auto">
          <a:xfrm>
            <a:off x="2060292" y="5329748"/>
            <a:ext cx="6649651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World Bank Open Data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https://data.worldbank.org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World in Data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https://ourworldindata.org/co2-emissions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Data Portal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https://data.un.org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Government Open Data (India)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https://data.gov.in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8356" y="1014656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Methodology</a:t>
            </a:r>
            <a:r>
              <a:rPr lang="en-US" sz="1800" b="1" dirty="0">
                <a:solidFill>
                  <a:srgbClr val="213163"/>
                </a:solidFill>
              </a:rPr>
              <a:t>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6713" y="1382936"/>
            <a:ext cx="11770405" cy="514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1700" b="1" dirty="0"/>
              <a:t>Data Collection : </a:t>
            </a:r>
            <a:r>
              <a:rPr lang="en-US" sz="1700" dirty="0"/>
              <a:t>Collected CO₂ emission, population, and energy usage data from reliable sources.</a:t>
            </a:r>
            <a:endParaRPr lang="en-IN" sz="1700" b="1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1700" b="1" dirty="0"/>
              <a:t>Data Preprocessing : </a:t>
            </a:r>
            <a:endParaRPr lang="en-IN" sz="1700" b="1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IN" sz="1700" b="1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1700" b="1" dirty="0"/>
              <a:t>Exploratory Data Analysis (EDA) :</a:t>
            </a:r>
            <a:endParaRPr lang="en-IN" sz="1700" b="1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IN" sz="1700" b="1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1700" b="1" dirty="0"/>
              <a:t>Feature Engineering : </a:t>
            </a:r>
            <a:endParaRPr lang="en-IN" sz="1700" b="1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IN" sz="1700" b="1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1700" b="1" dirty="0"/>
              <a:t>Model Building : </a:t>
            </a:r>
            <a:endParaRPr lang="en-IN" sz="1700" b="1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IN" sz="1700" b="1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1700" b="1" dirty="0"/>
              <a:t>Hyperparameter Tuning : </a:t>
            </a:r>
            <a:r>
              <a:rPr lang="en-US" sz="1600" dirty="0"/>
              <a:t>Used </a:t>
            </a:r>
            <a:r>
              <a:rPr lang="en-US" sz="1600" b="1" dirty="0" err="1"/>
              <a:t>GridSearchCV</a:t>
            </a:r>
            <a:r>
              <a:rPr lang="en-US" sz="1600" dirty="0"/>
              <a:t> to optimize model parameters</a:t>
            </a:r>
            <a:endParaRPr lang="en-IN" sz="1600" b="1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1700" b="1" dirty="0"/>
              <a:t>Model Evaluation : </a:t>
            </a:r>
            <a:r>
              <a:rPr lang="en-US" sz="1600" dirty="0"/>
              <a:t>Measured performance using </a:t>
            </a:r>
            <a:r>
              <a:rPr lang="en-US" sz="1600" b="1" dirty="0"/>
              <a:t>R² score</a:t>
            </a:r>
            <a:r>
              <a:rPr lang="en-US" sz="1600" dirty="0"/>
              <a:t> and </a:t>
            </a:r>
            <a:r>
              <a:rPr lang="en-US" sz="1600" b="1" dirty="0"/>
              <a:t>RMSE</a:t>
            </a:r>
            <a:endParaRPr lang="en-IN" sz="1600" b="1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1700" b="1" dirty="0"/>
              <a:t>Forecasting &amp; Insights :</a:t>
            </a:r>
            <a:endParaRPr lang="en-IN" sz="1700" b="1" dirty="0"/>
          </a:p>
          <a:p>
            <a:pPr>
              <a:lnSpc>
                <a:spcPct val="150000"/>
              </a:lnSpc>
            </a:pPr>
            <a:r>
              <a:rPr lang="en-IN" sz="1700" b="1" dirty="0"/>
              <a:t> </a:t>
            </a:r>
            <a:endParaRPr lang="en-IN" sz="1700" b="1" dirty="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067286" y="1877866"/>
            <a:ext cx="526648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Cleaned missing and inconsistent values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formats, scaled numerical features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386804" y="2642696"/>
            <a:ext cx="598411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Visualized trends, correlations, and feature distributions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key factors affecting CO₂ emissions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3136738" y="3414391"/>
            <a:ext cx="505813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Selected and created meaningful input features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irrelevant or redundant variables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2592727" y="4176251"/>
            <a:ext cx="582206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Regression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Trained and validated models using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cross-validation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3365969" y="5766487"/>
            <a:ext cx="674804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Predicted CO₂ emissions up to 2030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Interpreted results and key contributors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17" descr="Character Earth Shows Gesture Ok Earth Vector Time Vector, Earth ...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1992" y="1414293"/>
            <a:ext cx="9960028" cy="66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global CO₂ emissions have reached record highs</a:t>
            </a:r>
            <a:r>
              <a:rPr lang="en-US" sz="1800" dirty="0"/>
              <a:t>, accelerating climate change and causing:</a:t>
            </a:r>
            <a:endParaRPr lang="en-IN" sz="1800" dirty="0"/>
          </a:p>
        </p:txBody>
      </p:sp>
      <p:pic>
        <p:nvPicPr>
          <p:cNvPr id="4098" name="Picture 2" descr="Global CO₂ emissions from fossil fuels &amp; cement production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9924" y="1747781"/>
            <a:ext cx="5230084" cy="3695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562578" y="1735809"/>
            <a:ext cx="335665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Rising temperatures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Extreme weather events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Melting glaciers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 level rise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8854" y="2872695"/>
            <a:ext cx="6099858" cy="66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India</a:t>
            </a:r>
            <a:r>
              <a:rPr lang="en-US" sz="1800" dirty="0"/>
              <a:t> is the </a:t>
            </a:r>
            <a:r>
              <a:rPr lang="en-US" sz="1800" b="1" dirty="0"/>
              <a:t>3rd largest CO₂ emitter</a:t>
            </a:r>
            <a:r>
              <a:rPr lang="en-US" sz="1800" dirty="0"/>
              <a:t> in the world due to its growing population and energy demands.</a:t>
            </a:r>
            <a:endParaRPr lang="en-IN" sz="1800" dirty="0"/>
          </a:p>
        </p:txBody>
      </p:sp>
      <p:sp>
        <p:nvSpPr>
          <p:cNvPr id="9" name="TextBox 8"/>
          <p:cNvSpPr txBox="1"/>
          <p:nvPr/>
        </p:nvSpPr>
        <p:spPr>
          <a:xfrm>
            <a:off x="237280" y="3682934"/>
            <a:ext cx="6730679" cy="66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Despite climate agreements like the </a:t>
            </a:r>
            <a:r>
              <a:rPr lang="en-US" sz="1800" b="1" dirty="0"/>
              <a:t>Paris Agreement</a:t>
            </a:r>
            <a:r>
              <a:rPr lang="en-US" sz="1800" dirty="0"/>
              <a:t>, many countries struggle to:</a:t>
            </a:r>
            <a:endParaRPr lang="en-IN" sz="1800" dirty="0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643605" y="4255383"/>
            <a:ext cx="373862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Accurately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 emissions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Take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timely preventive actions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0426" y="5037165"/>
            <a:ext cx="6099858" cy="66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Lack of reliable emission prediction tools</a:t>
            </a:r>
            <a:r>
              <a:rPr lang="en-US" sz="1800" dirty="0"/>
              <a:t> makes it difficult for governments and industries to:</a:t>
            </a:r>
            <a:endParaRPr lang="en-IN" sz="1800" dirty="0"/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1608881" y="5614260"/>
            <a:ext cx="491923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 sustainable energy strategies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Meet emission reduction targets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Minimize environmental and health impacts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7750" y="1645783"/>
            <a:ext cx="6939023" cy="66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This project addresses the emission prediction problem using a </a:t>
            </a:r>
            <a:r>
              <a:rPr lang="en-US" sz="1800" b="1" dirty="0"/>
              <a:t>data-driven machine learning approach</a:t>
            </a:r>
            <a:r>
              <a:rPr lang="en-US" sz="1800" dirty="0"/>
              <a:t>.</a:t>
            </a:r>
            <a:endParaRPr lang="en-IN" sz="1800" dirty="0"/>
          </a:p>
        </p:txBody>
      </p:sp>
      <p:pic>
        <p:nvPicPr>
          <p:cNvPr id="5122" name="Picture 2" descr="Machine Learning PNG Transparent Image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4933" y="1645783"/>
            <a:ext cx="4649317" cy="3053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99329" y="2537037"/>
            <a:ext cx="6927445" cy="66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A </a:t>
            </a:r>
            <a:r>
              <a:rPr lang="en-US" sz="1800" b="1" dirty="0"/>
              <a:t>Random Forest Regression model</a:t>
            </a:r>
            <a:r>
              <a:rPr lang="en-US" sz="1800" dirty="0"/>
              <a:t> was built to forecast CO₂ emissions using historical data on:</a:t>
            </a:r>
            <a:endParaRPr lang="en-IN" sz="1800" dirty="0"/>
          </a:p>
        </p:txBody>
      </p:sp>
      <p:pic>
        <p:nvPicPr>
          <p:cNvPr id="5126" name="Picture 6" descr="Random Forest Icon - Free PNG &amp; SVG 961660 - Noun Projec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702" y="3078737"/>
            <a:ext cx="2099635" cy="2099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3727050" y="3431205"/>
            <a:ext cx="348398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Energy consumption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Fossil fuel use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GDP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4605" y="5083465"/>
            <a:ext cx="8084913" cy="66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/>
              <a:t>The model provides </a:t>
            </a:r>
            <a:r>
              <a:rPr lang="en-US" sz="1800" b="1" dirty="0"/>
              <a:t>accurate predictions</a:t>
            </a:r>
            <a:r>
              <a:rPr lang="en-US" sz="1800" dirty="0"/>
              <a:t> of future emissions, which can help:</a:t>
            </a:r>
            <a:endParaRPr lang="en-IN" sz="1800" dirty="0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226914" y="5386353"/>
            <a:ext cx="544010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Policymakers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plan environmental strategies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Industries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adopt sustainable practices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study emission trends and drivers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Mastering Hyperparameter Tuning: Unleashing the Full Potential of ..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575244"/>
            <a:ext cx="5715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7360" y="1277564"/>
            <a:ext cx="7760826" cy="66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Hyperparameter tuning</a:t>
            </a:r>
            <a:r>
              <a:rPr lang="en-US" dirty="0"/>
              <a:t> and </a:t>
            </a:r>
            <a:r>
              <a:rPr lang="en-US" b="1" dirty="0"/>
              <a:t>cross-validation</a:t>
            </a:r>
            <a:r>
              <a:rPr lang="en-US" dirty="0"/>
              <a:t> ensured high performance, with:</a:t>
            </a:r>
            <a:endParaRPr lang="en-IN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511703" y="1932966"/>
            <a:ext cx="2268638" cy="666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R² Score: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0.87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0.12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85" y="2879506"/>
            <a:ext cx="6099858" cy="95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The project also includes </a:t>
            </a:r>
            <a:r>
              <a:rPr lang="en-US" b="1" dirty="0"/>
              <a:t>data visualizations and insights</a:t>
            </a:r>
            <a:r>
              <a:rPr lang="en-US" dirty="0"/>
              <a:t> that highlight the impact of key factors on carbon emissions.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17360" y="4182681"/>
            <a:ext cx="6099858" cy="1241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By applying machine learning to real-world CO₂ data, this internship project delivers a practical, predictive tool to support emission control efforts and sustainability planning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2891" y="5817434"/>
            <a:ext cx="8168835" cy="66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 err="1"/>
              <a:t>Github</a:t>
            </a:r>
            <a:r>
              <a:rPr lang="en-US" b="1" dirty="0"/>
              <a:t> link :-					</a:t>
            </a:r>
            <a:r>
              <a:rPr lang="en-US" dirty="0"/>
              <a:t>https://github.com/Nikhil4850/Caarbon_Emissions_AICTE.git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586" y="1738102"/>
            <a:ext cx="10468400" cy="51198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504" y="1502967"/>
            <a:ext cx="6099858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EDA :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947" y="1510378"/>
            <a:ext cx="6149472" cy="469365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786" y="2285219"/>
            <a:ext cx="4927586" cy="22875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947384"/>
            <a:ext cx="6198242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MODEL and other :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Conclusion:</a:t>
            </a:r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1422987"/>
            <a:ext cx="6099858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b="1" dirty="0"/>
              <a:t>Key Takeaways:</a:t>
            </a:r>
            <a:endParaRPr lang="en-IN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291788" y="1805259"/>
            <a:ext cx="1138948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Gained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hands-on experience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handling real-world environmental data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Learned end-to-end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workflow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from data preprocessing to model evaluation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built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Regression model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predict CO₂ emissions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accuracy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R² Score of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0.87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RMSE of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0.12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85" y="2935334"/>
            <a:ext cx="6863786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b="1" dirty="0"/>
              <a:t>Real-World Impact:</a:t>
            </a:r>
            <a:endParaRPr lang="en-IN" sz="1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436471" y="3393561"/>
            <a:ext cx="686378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dirty="0"/>
              <a:t>Model helps forecast CO₂ trends, assisting </a:t>
            </a:r>
            <a:r>
              <a:rPr lang="en-US" sz="1600" b="1" dirty="0"/>
              <a:t>governments, industries, and researchers</a:t>
            </a:r>
            <a:r>
              <a:rPr lang="en-US" sz="1600" dirty="0"/>
              <a:t> in policy-making</a:t>
            </a: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600" dirty="0"/>
              <a:t>Encourages data-driven solutions to support </a:t>
            </a:r>
            <a:r>
              <a:rPr lang="en-US" sz="1600" b="1" dirty="0"/>
              <a:t>climate change mitigation</a:t>
            </a:r>
            <a:r>
              <a:rPr lang="en-US" sz="1600" dirty="0"/>
              <a:t> and </a:t>
            </a:r>
            <a:r>
              <a:rPr lang="en-US" sz="1600" b="1" dirty="0"/>
              <a:t>sustainable development goals</a:t>
            </a:r>
            <a:endParaRPr lang="en-IN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-5786" y="4567355"/>
            <a:ext cx="6863786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800" b="1" dirty="0"/>
              <a:t>Skills &amp; Tools Gained:</a:t>
            </a:r>
            <a:endParaRPr lang="en-IN" sz="1800" b="1" dirty="0"/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2731626" y="4891494"/>
            <a:ext cx="829904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Python, Pandas, NumPy, Matplotlib, Seaborn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(Random Forest, cross-validation, hyperparameter tuning)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Problem-solving, data analysis, and interpretation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-23150" y="6062547"/>
            <a:ext cx="121919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This project proves that machine learning can be a powerful tool in addressing real-world environmental challenges like carbon emissions and global warming</a:t>
            </a:r>
            <a:endParaRPr lang="en-IN" sz="2000" b="1" dirty="0"/>
          </a:p>
        </p:txBody>
      </p:sp>
      <p:pic>
        <p:nvPicPr>
          <p:cNvPr id="7174" name="Picture 6" descr="Premium Photo | Cartoon sticker of a happy earth with arms and legs ..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257" y="2576662"/>
            <a:ext cx="2585646" cy="258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0</TotalTime>
  <Words>5646</Words>
  <Application>WPS Presentation</Application>
  <PresentationFormat>Widescreen</PresentationFormat>
  <Paragraphs>208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Times New Roman</vt:lpstr>
      <vt:lpstr>Courier New</vt:lpstr>
      <vt:lpstr>Arial Unicode MS</vt:lpstr>
      <vt:lpstr>Microsoft YaHei</vt:lpstr>
      <vt:lpstr>Arial Unicode MS</vt:lpstr>
      <vt:lpstr>Session 01 Design Thinking &amp; Critical Thinking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Official Nikhil</cp:lastModifiedBy>
  <cp:revision>6</cp:revision>
  <dcterms:created xsi:type="dcterms:W3CDTF">2024-12-31T09:40:00Z</dcterms:created>
  <dcterms:modified xsi:type="dcterms:W3CDTF">2025-07-08T11:29:28Z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79DBFE6204AE4D709D10958BFBF64C1C_12</vt:lpwstr>
  </property>
  <property fmtid="{D5CDD505-2E9C-101B-9397-08002B2CF9AE}" pid="3" name="KSOProductBuildVer">
    <vt:lpwstr>1033-12.2.0.21546</vt:lpwstr>
  </property>
</Properties>
</file>